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6" r:id="rId8"/>
    <p:sldId id="267" r:id="rId9"/>
    <p:sldId id="268" r:id="rId10"/>
    <p:sldId id="269" r:id="rId11"/>
    <p:sldId id="270" r:id="rId12"/>
    <p:sldId id="271" r:id="rId13"/>
    <p:sldId id="272" r:id="rId14"/>
  </p:sldIdLst>
  <p:sldSz cx="12192000" cy="6858000"/>
  <p:notesSz cx="6858000" cy="9144000"/>
  <p:embeddedFontLst>
    <p:embeddedFont>
      <p:font typeface="Arial Black" panose="020B0A04020102020204" pitchFamily="34" charset="0"/>
      <p:bold r:id="rId16"/>
    </p:embeddedFont>
    <p:embeddedFont>
      <p:font typeface="Calibri" panose="020F0502020204030204" pitchFamily="34" charset="0"/>
      <p:regular r:id="rId17"/>
      <p:bold r:id="rId18"/>
      <p:italic r:id="rId19"/>
      <p:boldItalic r:id="rId20"/>
    </p:embeddedFont>
    <p:embeddedFont>
      <p:font typeface="Work Sans" pitchFamily="2" charset="0"/>
      <p:regular r:id="rId21"/>
      <p:bold r:id="rId22"/>
      <p:italic r:id="rId23"/>
      <p:boldItalic r:id="rId24"/>
    </p:embeddedFont>
    <p:embeddedFont>
      <p:font typeface="Work Sans Light" pitchFamily="2" charset="0"/>
      <p:regular r:id="rId25"/>
      <p:bold r:id="rId26"/>
      <p:italic r:id="rId27"/>
      <p:boldItalic r:id="rId28"/>
    </p:embeddedFont>
    <p:embeddedFont>
      <p:font typeface="Work Sans Medium"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95">
          <p15:clr>
            <a:srgbClr val="A4A3A4"/>
          </p15:clr>
        </p15:guide>
        <p15:guide id="2" pos="3840">
          <p15:clr>
            <a:srgbClr val="A4A3A4"/>
          </p15:clr>
        </p15:guide>
        <p15:guide id="3" orient="horz" pos="187">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jLzhfBqLZpU+Ttw8TbiZDy+z92C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5" d="100"/>
          <a:sy n="65" d="100"/>
        </p:scale>
        <p:origin x="1330" y="331"/>
      </p:cViewPr>
      <p:guideLst>
        <p:guide orient="horz" pos="595"/>
        <p:guide pos="3840"/>
        <p:guide orient="horz" pos="1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theme" Target="theme/theme1.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CO"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 name="Google Shape;8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 name="Google Shape;9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 name="Google Shape;9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2" name="Google Shape;12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5" name="Google Shape;16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79" name="Google Shape;17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8" name="Google Shape;18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8" name="Google Shape;19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5"/>
        <p:cNvGrpSpPr/>
        <p:nvPr/>
      </p:nvGrpSpPr>
      <p:grpSpPr>
        <a:xfrm>
          <a:off x="0" y="0"/>
          <a:ext cx="0" cy="0"/>
          <a:chOff x="0" y="0"/>
          <a:chExt cx="0" cy="0"/>
        </a:xfrm>
      </p:grpSpPr>
      <p:sp>
        <p:nvSpPr>
          <p:cNvPr id="16" name="Google Shape;1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5"/>
        <p:cNvGrpSpPr/>
        <p:nvPr/>
      </p:nvGrpSpPr>
      <p:grpSpPr>
        <a:xfrm>
          <a:off x="0" y="0"/>
          <a:ext cx="0" cy="0"/>
          <a:chOff x="0" y="0"/>
          <a:chExt cx="0" cy="0"/>
        </a:xfrm>
      </p:grpSpPr>
      <p:sp>
        <p:nvSpPr>
          <p:cNvPr id="26" name="Google Shape;26;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1"/>
        <p:cNvGrpSpPr/>
        <p:nvPr/>
      </p:nvGrpSpPr>
      <p:grpSpPr>
        <a:xfrm>
          <a:off x="0" y="0"/>
          <a:ext cx="0" cy="0"/>
          <a:chOff x="0" y="0"/>
          <a:chExt cx="0" cy="0"/>
        </a:xfrm>
      </p:grpSpPr>
      <p:sp>
        <p:nvSpPr>
          <p:cNvPr id="32" name="Google Shape;32;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8"/>
        <p:cNvGrpSpPr/>
        <p:nvPr/>
      </p:nvGrpSpPr>
      <p:grpSpPr>
        <a:xfrm>
          <a:off x="0" y="0"/>
          <a:ext cx="0" cy="0"/>
          <a:chOff x="0" y="0"/>
          <a:chExt cx="0" cy="0"/>
        </a:xfrm>
      </p:grpSpPr>
      <p:sp>
        <p:nvSpPr>
          <p:cNvPr id="39" name="Google Shape;39;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7"/>
        <p:cNvGrpSpPr/>
        <p:nvPr/>
      </p:nvGrpSpPr>
      <p:grpSpPr>
        <a:xfrm>
          <a:off x="0" y="0"/>
          <a:ext cx="0" cy="0"/>
          <a:chOff x="0" y="0"/>
          <a:chExt cx="0" cy="0"/>
        </a:xfrm>
      </p:grpSpPr>
      <p:sp>
        <p:nvSpPr>
          <p:cNvPr id="48" name="Google Shape;4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2"/>
        <p:cNvGrpSpPr/>
        <p:nvPr/>
      </p:nvGrpSpPr>
      <p:grpSpPr>
        <a:xfrm>
          <a:off x="0" y="0"/>
          <a:ext cx="0" cy="0"/>
          <a:chOff x="0" y="0"/>
          <a:chExt cx="0" cy="0"/>
        </a:xfrm>
      </p:grpSpPr>
      <p:sp>
        <p:nvSpPr>
          <p:cNvPr id="53" name="Google Shape;53;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59"/>
        <p:cNvGrpSpPr/>
        <p:nvPr/>
      </p:nvGrpSpPr>
      <p:grpSpPr>
        <a:xfrm>
          <a:off x="0" y="0"/>
          <a:ext cx="0" cy="0"/>
          <a:chOff x="0" y="0"/>
          <a:chExt cx="0" cy="0"/>
        </a:xfrm>
      </p:grpSpPr>
      <p:sp>
        <p:nvSpPr>
          <p:cNvPr id="60" name="Google Shape;60;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5"/>
          <p:cNvSpPr>
            <a:spLocks noGrp="1"/>
          </p:cNvSpPr>
          <p:nvPr>
            <p:ph type="pic" idx="2"/>
          </p:nvPr>
        </p:nvSpPr>
        <p:spPr>
          <a:xfrm>
            <a:off x="5183188" y="987425"/>
            <a:ext cx="6172200" cy="4873625"/>
          </a:xfrm>
          <a:prstGeom prst="rect">
            <a:avLst/>
          </a:prstGeom>
          <a:noFill/>
          <a:ln>
            <a:noFill/>
          </a:ln>
        </p:spPr>
      </p:sp>
      <p:sp>
        <p:nvSpPr>
          <p:cNvPr id="62" name="Google Shape;62;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6"/>
        <p:cNvGrpSpPr/>
        <p:nvPr/>
      </p:nvGrpSpPr>
      <p:grpSpPr>
        <a:xfrm>
          <a:off x="0" y="0"/>
          <a:ext cx="0" cy="0"/>
          <a:chOff x="0" y="0"/>
          <a:chExt cx="0" cy="0"/>
        </a:xfrm>
      </p:grpSpPr>
      <p:sp>
        <p:nvSpPr>
          <p:cNvPr id="67" name="Google Shape;67;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O"/>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6"/>
        <p:cNvGrpSpPr/>
        <p:nvPr/>
      </p:nvGrpSpPr>
      <p:grpSpPr>
        <a:xfrm>
          <a:off x="0" y="0"/>
          <a:ext cx="0" cy="0"/>
          <a:chOff x="0" y="0"/>
          <a:chExt cx="0" cy="0"/>
        </a:xfrm>
      </p:grpSpPr>
      <p:sp>
        <p:nvSpPr>
          <p:cNvPr id="87" name="Google Shape;87;p2"/>
          <p:cNvSpPr txBox="1"/>
          <p:nvPr/>
        </p:nvSpPr>
        <p:spPr>
          <a:xfrm>
            <a:off x="1200149" y="2274858"/>
            <a:ext cx="6615113"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F3F3F"/>
              </a:buClr>
              <a:buSzPts val="5400"/>
              <a:buFont typeface="Work Sans"/>
              <a:buNone/>
            </a:pPr>
            <a:r>
              <a:rPr lang="es-CO" sz="3600" dirty="0">
                <a:effectLst/>
                <a:latin typeface="Arial Black" panose="020B0A04020102020204" pitchFamily="34" charset="0"/>
                <a:ea typeface="Calibri" panose="020F0502020204030204" pitchFamily="34" charset="0"/>
              </a:rPr>
              <a:t>Plataforma Web de Gestión Inmobiliaria (PWGI)</a:t>
            </a:r>
            <a:endParaRPr sz="3600" b="0" i="0" u="none" strike="noStrike" cap="none" dirty="0">
              <a:solidFill>
                <a:srgbClr val="000000"/>
              </a:solidFill>
              <a:latin typeface="Arial Black" panose="020B0A04020102020204" pitchFamily="34" charset="0"/>
              <a:sym typeface="Arial"/>
            </a:endParaRPr>
          </a:p>
        </p:txBody>
      </p:sp>
      <p:pic>
        <p:nvPicPr>
          <p:cNvPr id="3" name="Imagen 2">
            <a:extLst>
              <a:ext uri="{FF2B5EF4-FFF2-40B4-BE49-F238E27FC236}">
                <a16:creationId xmlns:a16="http://schemas.microsoft.com/office/drawing/2014/main" id="{37C8FD21-E7D5-455A-BED2-0C128AE3E494}"/>
              </a:ext>
            </a:extLst>
          </p:cNvPr>
          <p:cNvPicPr>
            <a:picLocks noChangeAspect="1"/>
          </p:cNvPicPr>
          <p:nvPr/>
        </p:nvPicPr>
        <p:blipFill>
          <a:blip r:embed="rId4"/>
          <a:stretch>
            <a:fillRect/>
          </a:stretch>
        </p:blipFill>
        <p:spPr>
          <a:xfrm>
            <a:off x="6611914" y="3081164"/>
            <a:ext cx="4615893" cy="27146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2"/>
        <p:cNvGrpSpPr/>
        <p:nvPr/>
      </p:nvGrpSpPr>
      <p:grpSpPr>
        <a:xfrm>
          <a:off x="0" y="0"/>
          <a:ext cx="0" cy="0"/>
          <a:chOff x="0" y="0"/>
          <a:chExt cx="0" cy="0"/>
        </a:xfrm>
      </p:grpSpPr>
      <p:sp>
        <p:nvSpPr>
          <p:cNvPr id="93" name="Google Shape;93;p3"/>
          <p:cNvSpPr txBox="1"/>
          <p:nvPr/>
        </p:nvSpPr>
        <p:spPr>
          <a:xfrm>
            <a:off x="1162525" y="2788919"/>
            <a:ext cx="6453678" cy="196973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F3F3F"/>
              </a:buClr>
              <a:buSzPts val="2800"/>
              <a:buFont typeface="Work Sans"/>
              <a:buNone/>
            </a:pPr>
            <a:r>
              <a:rPr lang="es-CO" sz="2800" b="1" i="0" u="none" strike="noStrike" cap="none" dirty="0">
                <a:solidFill>
                  <a:srgbClr val="3F3F3F"/>
                </a:solidFill>
                <a:latin typeface="Work Sans"/>
                <a:ea typeface="Work Sans"/>
                <a:cs typeface="Work Sans"/>
                <a:sym typeface="Work Sans"/>
              </a:rPr>
              <a:t>Aprendices:</a:t>
            </a:r>
            <a:endParaRPr dirty="0"/>
          </a:p>
          <a:p>
            <a:pPr marL="0" marR="0" lvl="0" indent="0" algn="l" rtl="0">
              <a:lnSpc>
                <a:spcPct val="100000"/>
              </a:lnSpc>
              <a:spcBef>
                <a:spcPts val="0"/>
              </a:spcBef>
              <a:spcAft>
                <a:spcPts val="0"/>
              </a:spcAft>
              <a:buClr>
                <a:srgbClr val="3F3F3F"/>
              </a:buClr>
              <a:buSzPts val="2800"/>
              <a:buFont typeface="Work Sans"/>
              <a:buNone/>
            </a:pPr>
            <a:endParaRPr sz="1400" b="0" i="0" u="none" strike="noStrike" cap="none" dirty="0">
              <a:solidFill>
                <a:srgbClr val="000000"/>
              </a:solidFill>
              <a:latin typeface="Arial"/>
              <a:ea typeface="Arial"/>
              <a:cs typeface="Arial"/>
              <a:sym typeface="Arial"/>
            </a:endParaRPr>
          </a:p>
          <a:p>
            <a:pPr marL="571500" marR="0" lvl="0" indent="-571500" algn="l" rtl="0">
              <a:lnSpc>
                <a:spcPct val="100000"/>
              </a:lnSpc>
              <a:spcBef>
                <a:spcPts val="0"/>
              </a:spcBef>
              <a:spcAft>
                <a:spcPts val="0"/>
              </a:spcAft>
              <a:buClr>
                <a:srgbClr val="3F3F3F"/>
              </a:buClr>
              <a:buSzPts val="2800"/>
              <a:buFont typeface="Arial"/>
              <a:buChar char="•"/>
            </a:pPr>
            <a:r>
              <a:rPr lang="es-CO" sz="1600" b="1" i="0" u="none" strike="noStrike" cap="none" dirty="0">
                <a:solidFill>
                  <a:srgbClr val="3F3F3F"/>
                </a:solidFill>
                <a:latin typeface="Work Sans"/>
                <a:ea typeface="Work Sans"/>
                <a:cs typeface="Work Sans"/>
                <a:sym typeface="Work Sans"/>
              </a:rPr>
              <a:t> </a:t>
            </a:r>
            <a:r>
              <a:rPr lang="es-ES" sz="1600" b="1" dirty="0">
                <a:solidFill>
                  <a:srgbClr val="3F3F3F"/>
                </a:solidFill>
                <a:latin typeface="Work Sans"/>
                <a:ea typeface="Work Sans"/>
                <a:cs typeface="Work Sans"/>
                <a:sym typeface="Work Sans"/>
              </a:rPr>
              <a:t>JUAN PABLO PAVAS CARDONA</a:t>
            </a:r>
            <a:endParaRPr lang="es-ES" sz="1600" b="1" i="0" u="none" strike="noStrike" cap="none" dirty="0">
              <a:solidFill>
                <a:srgbClr val="3F3F3F"/>
              </a:solidFill>
              <a:latin typeface="Work Sans"/>
              <a:ea typeface="Work Sans"/>
              <a:cs typeface="Work Sans"/>
              <a:sym typeface="Work Sans"/>
            </a:endParaRPr>
          </a:p>
          <a:p>
            <a:pPr marL="571500" marR="0" lvl="0" indent="-571500" algn="l" rtl="0">
              <a:lnSpc>
                <a:spcPct val="100000"/>
              </a:lnSpc>
              <a:spcBef>
                <a:spcPts val="0"/>
              </a:spcBef>
              <a:spcAft>
                <a:spcPts val="0"/>
              </a:spcAft>
              <a:buClr>
                <a:srgbClr val="3F3F3F"/>
              </a:buClr>
              <a:buSzPts val="2800"/>
              <a:buFont typeface="Arial"/>
              <a:buChar char="•"/>
            </a:pPr>
            <a:r>
              <a:rPr lang="es-ES" sz="1600" b="1" dirty="0">
                <a:solidFill>
                  <a:srgbClr val="3F3F3F"/>
                </a:solidFill>
                <a:latin typeface="Work Sans"/>
                <a:sym typeface="Work Sans"/>
              </a:rPr>
              <a:t>JOHAN SEBASTIAN CASTRO ROMERO</a:t>
            </a:r>
            <a:endParaRPr lang="es-ES" sz="1600" dirty="0"/>
          </a:p>
          <a:p>
            <a:pPr marL="571500" marR="0" lvl="0" indent="-571500" algn="l" rtl="0">
              <a:lnSpc>
                <a:spcPct val="100000"/>
              </a:lnSpc>
              <a:spcBef>
                <a:spcPts val="0"/>
              </a:spcBef>
              <a:spcAft>
                <a:spcPts val="0"/>
              </a:spcAft>
              <a:buClr>
                <a:srgbClr val="3F3F3F"/>
              </a:buClr>
              <a:buSzPts val="2800"/>
              <a:buFont typeface="Arial"/>
              <a:buChar char="•"/>
            </a:pPr>
            <a:r>
              <a:rPr lang="es-ES" sz="1600" b="1" i="0" u="none" strike="noStrike" cap="none" dirty="0">
                <a:solidFill>
                  <a:srgbClr val="3F3F3F"/>
                </a:solidFill>
                <a:latin typeface="Work Sans"/>
                <a:ea typeface="Work Sans"/>
                <a:cs typeface="Work Sans"/>
                <a:sym typeface="Work Sans"/>
              </a:rPr>
              <a:t>JERONIMO TABARES CARVAJAL</a:t>
            </a:r>
          </a:p>
          <a:p>
            <a:pPr marL="571500" marR="0" lvl="0" indent="-571500" algn="l" rtl="0">
              <a:lnSpc>
                <a:spcPct val="100000"/>
              </a:lnSpc>
              <a:spcBef>
                <a:spcPts val="0"/>
              </a:spcBef>
              <a:spcAft>
                <a:spcPts val="0"/>
              </a:spcAft>
              <a:buClr>
                <a:srgbClr val="3F3F3F"/>
              </a:buClr>
              <a:buSzPts val="2800"/>
              <a:buFont typeface="Arial"/>
              <a:buChar char="•"/>
            </a:pPr>
            <a:r>
              <a:rPr lang="es-ES" sz="1600" b="1" dirty="0">
                <a:solidFill>
                  <a:srgbClr val="3F3F3F"/>
                </a:solidFill>
                <a:latin typeface="Work Sans"/>
                <a:sym typeface="Work Sans"/>
              </a:rPr>
              <a:t>SIMON SEPULVEDA TABARES</a:t>
            </a:r>
          </a:p>
          <a:p>
            <a:pPr marL="0" marR="0" lvl="0" indent="0" algn="l" rtl="0">
              <a:lnSpc>
                <a:spcPct val="100000"/>
              </a:lnSpc>
              <a:spcBef>
                <a:spcPts val="0"/>
              </a:spcBef>
              <a:spcAft>
                <a:spcPts val="0"/>
              </a:spcAft>
              <a:buNone/>
            </a:pPr>
            <a:endParaRPr sz="1600" b="1" i="0" u="none" strike="noStrike" cap="none" dirty="0">
              <a:solidFill>
                <a:srgbClr val="3F3F3F"/>
              </a:solidFill>
              <a:latin typeface="Work Sans"/>
              <a:ea typeface="Work Sans"/>
              <a:cs typeface="Work Sans"/>
              <a:sym typeface="Work Sans"/>
            </a:endParaRPr>
          </a:p>
        </p:txBody>
      </p:sp>
      <p:pic>
        <p:nvPicPr>
          <p:cNvPr id="3" name="Imagen 2">
            <a:extLst>
              <a:ext uri="{FF2B5EF4-FFF2-40B4-BE49-F238E27FC236}">
                <a16:creationId xmlns:a16="http://schemas.microsoft.com/office/drawing/2014/main" id="{DE2D1B14-62FE-4DB8-B2DF-A08E3F55E12B}"/>
              </a:ext>
            </a:extLst>
          </p:cNvPr>
          <p:cNvPicPr>
            <a:picLocks noChangeAspect="1"/>
          </p:cNvPicPr>
          <p:nvPr/>
        </p:nvPicPr>
        <p:blipFill>
          <a:blip r:embed="rId4"/>
          <a:stretch>
            <a:fillRect/>
          </a:stretch>
        </p:blipFill>
        <p:spPr>
          <a:xfrm>
            <a:off x="8291052" y="2332539"/>
            <a:ext cx="2426110" cy="2426110"/>
          </a:xfrm>
          <a:prstGeom prst="rect">
            <a:avLst/>
          </a:prstGeom>
        </p:spPr>
      </p:pic>
      <p:pic>
        <p:nvPicPr>
          <p:cNvPr id="8" name="Imagen 7">
            <a:extLst>
              <a:ext uri="{FF2B5EF4-FFF2-40B4-BE49-F238E27FC236}">
                <a16:creationId xmlns:a16="http://schemas.microsoft.com/office/drawing/2014/main" id="{82F47150-B1CD-495A-830D-9E3D01E70B5A}"/>
              </a:ext>
            </a:extLst>
          </p:cNvPr>
          <p:cNvPicPr>
            <a:picLocks noChangeAspect="1"/>
          </p:cNvPicPr>
          <p:nvPr/>
        </p:nvPicPr>
        <p:blipFill>
          <a:blip r:embed="rId5"/>
          <a:stretch>
            <a:fillRect/>
          </a:stretch>
        </p:blipFill>
        <p:spPr>
          <a:xfrm>
            <a:off x="5817681" y="2672687"/>
            <a:ext cx="2572008" cy="15126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0"/>
        <p:cNvGrpSpPr/>
        <p:nvPr/>
      </p:nvGrpSpPr>
      <p:grpSpPr>
        <a:xfrm>
          <a:off x="0" y="0"/>
          <a:ext cx="0" cy="0"/>
          <a:chOff x="0" y="0"/>
          <a:chExt cx="0" cy="0"/>
        </a:xfrm>
      </p:grpSpPr>
      <p:sp>
        <p:nvSpPr>
          <p:cNvPr id="101" name="Google Shape;101;p6"/>
          <p:cNvSpPr txBox="1"/>
          <p:nvPr/>
        </p:nvSpPr>
        <p:spPr>
          <a:xfrm>
            <a:off x="364658" y="90607"/>
            <a:ext cx="412276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Objetivo general: </a:t>
            </a:r>
            <a:endParaRPr sz="1400" b="0" i="0" u="none" strike="noStrike" cap="none">
              <a:solidFill>
                <a:srgbClr val="000000"/>
              </a:solidFill>
              <a:latin typeface="Arial"/>
              <a:ea typeface="Arial"/>
              <a:cs typeface="Arial"/>
              <a:sym typeface="Arial"/>
            </a:endParaRPr>
          </a:p>
        </p:txBody>
      </p:sp>
      <p:sp>
        <p:nvSpPr>
          <p:cNvPr id="102" name="Google Shape;102;p6"/>
          <p:cNvSpPr txBox="1"/>
          <p:nvPr/>
        </p:nvSpPr>
        <p:spPr>
          <a:xfrm>
            <a:off x="364657" y="309066"/>
            <a:ext cx="11129252" cy="13336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800"/>
              </a:spcBef>
              <a:spcAft>
                <a:spcPts val="0"/>
              </a:spcAft>
              <a:buClr>
                <a:srgbClr val="000000"/>
              </a:buClr>
              <a:buSzPts val="2000"/>
              <a:buFont typeface="Arial"/>
              <a:buNone/>
            </a:pPr>
            <a:br>
              <a:rPr lang="es-CO" sz="2000" b="0" i="0" u="none" strike="noStrike" cap="none" dirty="0">
                <a:solidFill>
                  <a:srgbClr val="000000"/>
                </a:solidFill>
                <a:latin typeface="Arial"/>
                <a:ea typeface="Arial"/>
                <a:cs typeface="Arial"/>
                <a:sym typeface="Arial"/>
              </a:rPr>
            </a:br>
            <a:r>
              <a:rPr lang="es-CO" sz="1800" dirty="0">
                <a:effectLst/>
                <a:latin typeface="Arial" panose="020B0604020202020204" pitchFamily="34" charset="0"/>
                <a:ea typeface="Calibri" panose="020F0502020204030204" pitchFamily="34" charset="0"/>
              </a:rPr>
              <a:t>Diseñar e implementar una plataforma web de gestión inmobiliaria que permita centralizar el registro, administración y consulta de propiedades destinadas a la venta y arriendo, garantizando una organización eficiente de la información y una mejora en la interacción entre agentes inmobiliarios y clientes.</a:t>
            </a:r>
            <a:endParaRPr sz="1600" b="0" i="0" u="none" strike="noStrike" cap="none" dirty="0">
              <a:solidFill>
                <a:schemeClr val="dk1"/>
              </a:solidFill>
              <a:latin typeface="Work Sans Light"/>
              <a:ea typeface="Work Sans Light"/>
              <a:cs typeface="Work Sans Light"/>
              <a:sym typeface="Work Sans Light"/>
            </a:endParaRPr>
          </a:p>
        </p:txBody>
      </p:sp>
      <p:cxnSp>
        <p:nvCxnSpPr>
          <p:cNvPr id="103" name="Google Shape;103;p6"/>
          <p:cNvCxnSpPr/>
          <p:nvPr/>
        </p:nvCxnSpPr>
        <p:spPr>
          <a:xfrm>
            <a:off x="521820" y="744429"/>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105" name="Google Shape;105;p6"/>
          <p:cNvSpPr txBox="1"/>
          <p:nvPr/>
        </p:nvSpPr>
        <p:spPr>
          <a:xfrm>
            <a:off x="364656" y="1642724"/>
            <a:ext cx="4609271"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dirty="0">
                <a:solidFill>
                  <a:srgbClr val="38AA00"/>
                </a:solidFill>
                <a:latin typeface="Work Sans"/>
                <a:ea typeface="Work Sans"/>
                <a:cs typeface="Work Sans"/>
                <a:sym typeface="Work Sans"/>
              </a:rPr>
              <a:t>Objetivos Específicos: </a:t>
            </a:r>
            <a:endParaRPr sz="1400" b="0" i="0" u="none" strike="noStrike" cap="none" dirty="0">
              <a:solidFill>
                <a:srgbClr val="000000"/>
              </a:solidFill>
              <a:latin typeface="Arial"/>
              <a:ea typeface="Arial"/>
              <a:cs typeface="Arial"/>
              <a:sym typeface="Arial"/>
            </a:endParaRPr>
          </a:p>
        </p:txBody>
      </p:sp>
      <p:sp>
        <p:nvSpPr>
          <p:cNvPr id="106" name="Google Shape;106;p6"/>
          <p:cNvSpPr/>
          <p:nvPr/>
        </p:nvSpPr>
        <p:spPr>
          <a:xfrm>
            <a:off x="7834964" y="560397"/>
            <a:ext cx="3789094"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s-CO" sz="2400" b="1" i="0" u="none" strike="noStrike" cap="none">
                <a:solidFill>
                  <a:srgbClr val="FEFEFE"/>
                </a:solidFill>
                <a:latin typeface="Calibri"/>
                <a:ea typeface="Calibri"/>
                <a:cs typeface="Calibri"/>
                <a:sym typeface="Calibri"/>
              </a:rPr>
              <a:t>Imagen del tema, o foto de los aprendices.</a:t>
            </a:r>
            <a:endParaRPr sz="1400" b="0" i="0" u="none" strike="noStrike" cap="none">
              <a:solidFill>
                <a:srgbClr val="000000"/>
              </a:solidFill>
              <a:latin typeface="Arial"/>
              <a:ea typeface="Arial"/>
              <a:cs typeface="Arial"/>
              <a:sym typeface="Arial"/>
            </a:endParaRPr>
          </a:p>
        </p:txBody>
      </p:sp>
      <p:sp>
        <p:nvSpPr>
          <p:cNvPr id="2" name="CuadroTexto 1">
            <a:extLst>
              <a:ext uri="{FF2B5EF4-FFF2-40B4-BE49-F238E27FC236}">
                <a16:creationId xmlns:a16="http://schemas.microsoft.com/office/drawing/2014/main" id="{09EF84EB-7817-462C-B8D6-F71B1428A932}"/>
              </a:ext>
            </a:extLst>
          </p:cNvPr>
          <p:cNvSpPr txBox="1"/>
          <p:nvPr/>
        </p:nvSpPr>
        <p:spPr>
          <a:xfrm>
            <a:off x="364656" y="2725052"/>
            <a:ext cx="11394723" cy="4479688"/>
          </a:xfrm>
          <a:prstGeom prst="rect">
            <a:avLst/>
          </a:prstGeom>
          <a:noFill/>
        </p:spPr>
        <p:txBody>
          <a:bodyPr wrap="square" rtlCol="0">
            <a:spAutoFit/>
          </a:bodyPr>
          <a:lstStyle/>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Diseñar e implementar una base de datos relacional que permita almacenar y gestionar la información correspondiente a usuarios, agentes inmobiliarios, propiedades y solicitudes de clientes.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Desarrollar un sistema de autenticación con control de roles que administre el acceso de administradores y agentes inmobiliarios a las funciones internas de la plataforma.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Crear un módulo de registro, edición y eliminación de propiedades que permita publicar inmuebles con información detallada como precio, ubicación, características físicas e imágenes.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Implementar un sistema de búsqueda avanzada que facilite a los usuarios la consulta de propiedades mediante filtros como tipo de inmueble, ubicación, rango de precio y estado comercial.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Validar el funcionamiento integral de la plataforma mediante pruebas de usabilidad, rendimiento y almacenamiento de datos, garantizando una operación estable y eficiente en condiciones reales de uso. </a:t>
            </a:r>
            <a:endParaRPr lang="es-CO" sz="1800" dirty="0">
              <a:effectLst/>
              <a:latin typeface="Calibri" panose="020F0502020204030204" pitchFamily="34" charset="0"/>
              <a:ea typeface="Calibri" panose="020F0502020204030204" pitchFamily="34" charset="0"/>
            </a:endParaRPr>
          </a:p>
          <a:p>
            <a:pPr marL="342900" lvl="0" indent="-342900">
              <a:lnSpc>
                <a:spcPct val="107000"/>
              </a:lnSpc>
              <a:spcAft>
                <a:spcPts val="800"/>
              </a:spcAft>
              <a:buFont typeface="+mj-lt"/>
              <a:buAutoNum type="arabicPeriod"/>
              <a:tabLst>
                <a:tab pos="457200" algn="l"/>
              </a:tabLst>
            </a:pPr>
            <a:r>
              <a:rPr lang="es-CO" sz="1800" dirty="0">
                <a:effectLst/>
                <a:latin typeface="Arial" panose="020B0604020202020204" pitchFamily="34" charset="0"/>
                <a:ea typeface="Times New Roman" panose="02020603050405020304" pitchFamily="18" charset="0"/>
              </a:rPr>
              <a:t>Como requisito académico, realizar la entrega final del proyecto como evidencia de las competencias adquiridas durante el proceso de formación, con el fin de optar al título técnico en el área correspondiente.</a:t>
            </a:r>
            <a:r>
              <a:rPr lang="es-CO" sz="1800" dirty="0">
                <a:effectLst/>
                <a:latin typeface="Times New Roman" panose="02020603050405020304" pitchFamily="18" charset="0"/>
                <a:ea typeface="Times New Roman" panose="02020603050405020304" pitchFamily="18" charset="0"/>
              </a:rPr>
              <a:t> </a:t>
            </a:r>
            <a:endParaRPr lang="es-CO" sz="1800" dirty="0">
              <a:effectLst/>
              <a:latin typeface="Calibri" panose="020F0502020204030204" pitchFamily="34" charset="0"/>
              <a:ea typeface="Calibri" panose="020F0502020204030204" pitchFamily="34" charset="0"/>
            </a:endParaRPr>
          </a:p>
          <a:p>
            <a:endParaRPr lang="es-CO"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p:cNvGrpSpPr/>
        <p:nvPr/>
      </p:nvGrpSpPr>
      <p:grpSpPr>
        <a:xfrm>
          <a:off x="0" y="0"/>
          <a:ext cx="0" cy="0"/>
          <a:chOff x="0" y="0"/>
          <a:chExt cx="0" cy="0"/>
        </a:xfrm>
      </p:grpSpPr>
      <p:sp>
        <p:nvSpPr>
          <p:cNvPr id="112" name="Google Shape;112;p4"/>
          <p:cNvSpPr txBox="1"/>
          <p:nvPr/>
        </p:nvSpPr>
        <p:spPr>
          <a:xfrm>
            <a:off x="1008744" y="659576"/>
            <a:ext cx="9815809"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4D4D4C"/>
              </a:buClr>
              <a:buSzPts val="3600"/>
              <a:buFont typeface="Work Sans"/>
              <a:buNone/>
            </a:pPr>
            <a:r>
              <a:rPr lang="es-CO" sz="3600" b="1" i="0" u="none" strike="noStrike" cap="none" dirty="0">
                <a:solidFill>
                  <a:srgbClr val="4D4D4C"/>
                </a:solidFill>
                <a:latin typeface="Work Sans"/>
                <a:ea typeface="Work Sans"/>
                <a:cs typeface="Work Sans"/>
                <a:sym typeface="Work Sans"/>
              </a:rPr>
              <a:t>Descripción del Proyecto</a:t>
            </a:r>
            <a:endParaRPr sz="1400" b="0" i="0" u="none" strike="noStrike" cap="none" dirty="0">
              <a:solidFill>
                <a:srgbClr val="000000"/>
              </a:solidFill>
              <a:latin typeface="Arial"/>
              <a:ea typeface="Arial"/>
              <a:cs typeface="Arial"/>
              <a:sym typeface="Arial"/>
            </a:endParaRPr>
          </a:p>
        </p:txBody>
      </p:sp>
      <p:sp>
        <p:nvSpPr>
          <p:cNvPr id="113" name="Google Shape;113;p4"/>
          <p:cNvSpPr txBox="1"/>
          <p:nvPr/>
        </p:nvSpPr>
        <p:spPr>
          <a:xfrm>
            <a:off x="366978" y="1313763"/>
            <a:ext cx="10920826" cy="5426830"/>
          </a:xfrm>
          <a:prstGeom prst="rect">
            <a:avLst/>
          </a:prstGeom>
          <a:noFill/>
          <a:ln>
            <a:noFill/>
          </a:ln>
        </p:spPr>
        <p:txBody>
          <a:bodyPr spcFirstLastPara="1" wrap="square" lIns="91425" tIns="45700" rIns="91425" bIns="45700" anchor="t" anchorCtr="0">
            <a:spAutoFit/>
          </a:bodyPr>
          <a:lstStyle/>
          <a:p>
            <a:pPr>
              <a:lnSpc>
                <a:spcPct val="107000"/>
              </a:lnSpc>
            </a:pPr>
            <a:r>
              <a:rPr lang="es-CO" sz="1800" dirty="0">
                <a:effectLst/>
              </a:rPr>
              <a:t>El proyecto consiste en el diseño e implementación de una plataforma web orientada a la gestión inmobiliaria, concebida como un sistema digital centralizado para la administración, publicación y consulta de bienes inmuebles. La infraestructura del sistema se compone de tres etapas principales: Captura de Información, donde los agentes inmobiliarios registran propiedades mediante formularios estructurados que incluyen datos como ubicación, precio, características físicas e imágenes; Procesamiento y Control, donde el sistema, desarrollado en PHP y MySQL, gestiona la información a través de un modelo relacional, permitiendo operaciones de almacenamiento, actualización y filtrado mediante consultas dinámicas; y Interacción, donde los usuarios finales acceden a la plataforma para consultar inmuebles a través de un sistema de búsqueda avanzada y enviar solicitudes de contacto mediante formularios integrados.</a:t>
            </a:r>
          </a:p>
          <a:p>
            <a:pPr>
              <a:lnSpc>
                <a:spcPct val="107000"/>
              </a:lnSpc>
            </a:pPr>
            <a:r>
              <a:rPr lang="es-CO" sz="1800" dirty="0">
                <a:effectLst/>
              </a:rPr>
              <a:t>El sistema incorpora un módulo de autenticación con control de roles que diferencia entre administradores y agentes, garantizando seguridad y organización en el acceso a la información. Adicionalmente, se implementa un panel administrativo que permite supervisar las propiedades registradas, gestionar usuarios y monitorear las solicitudes generadas por los clientes.</a:t>
            </a:r>
          </a:p>
          <a:p>
            <a:pPr>
              <a:lnSpc>
                <a:spcPct val="107000"/>
              </a:lnSpc>
            </a:pPr>
            <a:r>
              <a:rPr lang="es-CO" sz="1800" dirty="0">
                <a:effectLst/>
              </a:rPr>
              <a:t>La plataforma será desplegada en un entorno web accesible desde distintos dispositivos, permitiendo demostrar la eficiencia de un sistema digital en la optimización de procesos inmobiliarios, mejorando la organización de la información, la visibilidad de los inmuebles y la interacción entre agentes y clientes en condiciones reales de uso.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7"/>
        <p:cNvGrpSpPr/>
        <p:nvPr/>
      </p:nvGrpSpPr>
      <p:grpSpPr>
        <a:xfrm>
          <a:off x="0" y="0"/>
          <a:ext cx="0" cy="0"/>
          <a:chOff x="0" y="0"/>
          <a:chExt cx="0" cy="0"/>
        </a:xfrm>
      </p:grpSpPr>
      <p:sp>
        <p:nvSpPr>
          <p:cNvPr id="118" name="Google Shape;118;p5"/>
          <p:cNvSpPr txBox="1"/>
          <p:nvPr/>
        </p:nvSpPr>
        <p:spPr>
          <a:xfrm>
            <a:off x="456236" y="416689"/>
            <a:ext cx="9815809"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4D4D4C"/>
              </a:buClr>
              <a:buSzPts val="3600"/>
              <a:buFont typeface="Work Sans"/>
              <a:buNone/>
            </a:pPr>
            <a:r>
              <a:rPr lang="es-CO" sz="3600" b="1" i="0" u="none" strike="noStrike" cap="none">
                <a:solidFill>
                  <a:srgbClr val="4D4D4C"/>
                </a:solidFill>
                <a:latin typeface="Work Sans"/>
                <a:ea typeface="Work Sans"/>
                <a:cs typeface="Work Sans"/>
                <a:sym typeface="Work Sans"/>
              </a:rPr>
              <a:t>Justificación</a:t>
            </a:r>
            <a:endParaRPr sz="1400" b="0" i="0" u="none" strike="noStrike" cap="none">
              <a:solidFill>
                <a:srgbClr val="000000"/>
              </a:solidFill>
              <a:latin typeface="Arial"/>
              <a:ea typeface="Arial"/>
              <a:cs typeface="Arial"/>
              <a:sym typeface="Arial"/>
            </a:endParaRPr>
          </a:p>
        </p:txBody>
      </p:sp>
      <p:sp>
        <p:nvSpPr>
          <p:cNvPr id="119" name="Google Shape;119;p5"/>
          <p:cNvSpPr txBox="1"/>
          <p:nvPr/>
        </p:nvSpPr>
        <p:spPr>
          <a:xfrm>
            <a:off x="456236" y="787470"/>
            <a:ext cx="10920826" cy="5753458"/>
          </a:xfrm>
          <a:prstGeom prst="rect">
            <a:avLst/>
          </a:prstGeom>
          <a:noFill/>
          <a:ln>
            <a:noFill/>
          </a:ln>
        </p:spPr>
        <p:txBody>
          <a:bodyPr spcFirstLastPara="1" wrap="square" lIns="91425" tIns="45700" rIns="91425" bIns="45700" anchor="t" anchorCtr="0">
            <a:spAutoFit/>
          </a:bodyPr>
          <a:lstStyle/>
          <a:p>
            <a:pPr>
              <a:lnSpc>
                <a:spcPct val="107000"/>
              </a:lnSpc>
              <a:spcBef>
                <a:spcPts val="1800"/>
              </a:spcBef>
              <a:spcAft>
                <a:spcPts val="400"/>
              </a:spcAft>
            </a:pPr>
            <a:r>
              <a:rPr lang="es-CO" sz="1600" b="0" dirty="0">
                <a:effectLst/>
                <a:latin typeface="Arial" panose="020B0604020202020204" pitchFamily="34" charset="0"/>
                <a:ea typeface="Calibri" panose="020F0502020204030204" pitchFamily="34" charset="0"/>
              </a:rPr>
              <a:t>Planteamiento del </a:t>
            </a:r>
            <a:r>
              <a:rPr lang="es-CO" sz="1600" b="0" dirty="0" err="1">
                <a:effectLst/>
                <a:latin typeface="Arial" panose="020B0604020202020204" pitchFamily="34" charset="0"/>
                <a:ea typeface="Calibri" panose="020F0502020204030204" pitchFamily="34" charset="0"/>
              </a:rPr>
              <a:t>Problema:En</a:t>
            </a:r>
            <a:r>
              <a:rPr lang="es-CO" sz="1600" b="0" dirty="0">
                <a:effectLst/>
                <a:latin typeface="Arial" panose="020B0604020202020204" pitchFamily="34" charset="0"/>
                <a:ea typeface="Calibri" panose="020F0502020204030204" pitchFamily="34" charset="0"/>
              </a:rPr>
              <a:t> la actualidad, los agentes inmobiliarios y pequeñas empresas del sector presentan dificultades en la gestión y comercialización de propiedades debido al uso de herramientas no especializadas como redes sociales, aplicaciones de mensajería y registros manuales. Esta situación genera desorganización en la información, duplicidad de datos, dificultades para actualizar contenidos en tiempo real y una limitada capacidad de respuesta ante los clientes interesados. Adicionalmente, la ausencia de una plataforma digital centralizada reduce la visibilidad de los inmuebles y dificulta la aplicación de filtros de búsqueda eficientes, lo que afecta la experiencia del usuario y disminuye las oportunidades de negocio. Existe, por tanto, una brecha tecnológica entre los procesos tradicionales de gestión inmobiliaria y el uso de herramientas digitales estructuradas que optimicen la administración y comercialización de propiedades.</a:t>
            </a:r>
            <a:endParaRPr lang="es-CO" sz="1600" b="1" dirty="0">
              <a:effectLst/>
              <a:latin typeface="Calibri" panose="020F0502020204030204" pitchFamily="34" charset="0"/>
              <a:ea typeface="Calibri" panose="020F0502020204030204" pitchFamily="34" charset="0"/>
            </a:endParaRPr>
          </a:p>
          <a:p>
            <a:pPr>
              <a:lnSpc>
                <a:spcPct val="107000"/>
              </a:lnSpc>
              <a:spcBef>
                <a:spcPts val="1800"/>
              </a:spcBef>
              <a:spcAft>
                <a:spcPts val="400"/>
              </a:spcAft>
            </a:pPr>
            <a:r>
              <a:rPr lang="es-CO" sz="1600" b="0" dirty="0">
                <a:effectLst/>
                <a:latin typeface="Arial" panose="020B0604020202020204" pitchFamily="34" charset="0"/>
                <a:ea typeface="Calibri" panose="020F0502020204030204" pitchFamily="34" charset="0"/>
              </a:rPr>
              <a:t>Justificación:</a:t>
            </a:r>
            <a:endParaRPr lang="es-CO" sz="1600" b="1" dirty="0">
              <a:effectLst/>
              <a:latin typeface="Calibri" panose="020F0502020204030204" pitchFamily="34" charset="0"/>
              <a:ea typeface="Calibri" panose="020F0502020204030204" pitchFamily="34" charset="0"/>
            </a:endParaRPr>
          </a:p>
          <a:p>
            <a:r>
              <a:rPr lang="es-CO" sz="1600" dirty="0">
                <a:effectLst/>
                <a:latin typeface="Arial" panose="020B0604020202020204" pitchFamily="34" charset="0"/>
                <a:ea typeface="Times New Roman" panose="02020603050405020304" pitchFamily="18" charset="0"/>
              </a:rPr>
              <a:t>La implementación de la </a:t>
            </a:r>
            <a:r>
              <a:rPr lang="es-CO" sz="1600" b="1" dirty="0">
                <a:effectLst/>
                <a:latin typeface="Arial" panose="020B0604020202020204" pitchFamily="34" charset="0"/>
                <a:ea typeface="Times New Roman" panose="02020603050405020304" pitchFamily="18" charset="0"/>
              </a:rPr>
              <a:t>Plataforma Web de Gestión Inmobiliaria (PWGI)</a:t>
            </a:r>
            <a:r>
              <a:rPr lang="es-CO" sz="1600" dirty="0">
                <a:effectLst/>
                <a:latin typeface="Arial" panose="020B0604020202020204" pitchFamily="34" charset="0"/>
                <a:ea typeface="Times New Roman" panose="02020603050405020304" pitchFamily="18" charset="0"/>
              </a:rPr>
              <a:t> es fundamental en el contexto de la formación en programación de software, ya que permite aplicar conocimientos en desarrollo web, bases de datos relacionales, diseño de interfaces y lógica de programación. Este proyecto beneficia a los agentes inmobiliarios al proporcionar una herramienta que mejora la organización de la información, optimiza la publicación de inmuebles y facilita la interacción con los clientes mediante un sistema centralizado. Asimismo, contribuye a la modernización de los procesos del sector, promoviendo el uso de soluciones digitales eficientes. Desde el punto de vista académico, el proyecto representa una solución viable y funcional que integra conceptos técnicos aprendidos durante la formación, permitiendo demostrar competencias en el desarrollo de sistemas web aplicados a un entorno real. Además, constituye el proyecto de grado requerido para la culminación del proceso formativo, evidenciando la capacidad de diseñar e implementar una solución tecnológica acorde a una necesidad específica del entorno.</a:t>
            </a:r>
            <a:endParaRPr lang="es-CO" sz="16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3"/>
        <p:cNvGrpSpPr/>
        <p:nvPr/>
      </p:nvGrpSpPr>
      <p:grpSpPr>
        <a:xfrm>
          <a:off x="0" y="0"/>
          <a:ext cx="0" cy="0"/>
          <a:chOff x="0" y="0"/>
          <a:chExt cx="0" cy="0"/>
        </a:xfrm>
      </p:grpSpPr>
      <p:sp>
        <p:nvSpPr>
          <p:cNvPr id="124" name="Google Shape;124;p41"/>
          <p:cNvSpPr txBox="1"/>
          <p:nvPr/>
        </p:nvSpPr>
        <p:spPr>
          <a:xfrm>
            <a:off x="1648033" y="650586"/>
            <a:ext cx="9815809" cy="741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4D4D4C"/>
              </a:buClr>
              <a:buSzPts val="3600"/>
              <a:buFont typeface="Work Sans"/>
              <a:buNone/>
            </a:pPr>
            <a:r>
              <a:rPr lang="es-CO" sz="3600" b="1" i="0" u="none" strike="noStrike" cap="none" dirty="0">
                <a:solidFill>
                  <a:srgbClr val="4D4D4C"/>
                </a:solidFill>
                <a:latin typeface="Work Sans"/>
                <a:ea typeface="Work Sans"/>
                <a:cs typeface="Work Sans"/>
                <a:sym typeface="Work Sans"/>
              </a:rPr>
              <a:t>MARCO TEORICO.</a:t>
            </a:r>
          </a:p>
        </p:txBody>
      </p:sp>
      <p:sp>
        <p:nvSpPr>
          <p:cNvPr id="2" name="CuadroTexto 1">
            <a:extLst>
              <a:ext uri="{FF2B5EF4-FFF2-40B4-BE49-F238E27FC236}">
                <a16:creationId xmlns:a16="http://schemas.microsoft.com/office/drawing/2014/main" id="{C2BD2751-D94D-4CEB-81D3-9FBCF58C6930}"/>
              </a:ext>
            </a:extLst>
          </p:cNvPr>
          <p:cNvSpPr txBox="1"/>
          <p:nvPr/>
        </p:nvSpPr>
        <p:spPr>
          <a:xfrm>
            <a:off x="668879" y="1392149"/>
            <a:ext cx="10854242" cy="5299721"/>
          </a:xfrm>
          <a:prstGeom prst="rect">
            <a:avLst/>
          </a:prstGeom>
          <a:noFill/>
        </p:spPr>
        <p:txBody>
          <a:bodyPr wrap="square" rtlCol="0">
            <a:spAutoFit/>
          </a:bodyPr>
          <a:lstStyle/>
          <a:p>
            <a:pPr algn="just">
              <a:lnSpc>
                <a:spcPct val="107000"/>
              </a:lnSpc>
              <a:spcAft>
                <a:spcPts val="800"/>
              </a:spcAft>
            </a:pPr>
            <a:r>
              <a:rPr lang="es-CO" sz="1600" dirty="0">
                <a:effectLst/>
                <a:latin typeface="Arial" panose="020B0604020202020204" pitchFamily="34" charset="0"/>
                <a:ea typeface="Arial" panose="020B0604020202020204" pitchFamily="34" charset="0"/>
              </a:rPr>
              <a:t>El presente proyecto se enmarca dentro del área de las tecnologías de la información, el desarrollo de software y los sistemas de información aplicados a la gestión inmobiliaria. En la actualidad, los procesos de publicación, consulta, administración y comercialización de propiedades han evolucionado significativamente gracias al uso de plataformas digitales, las cuales permiten optimizar tiempos, mejorar la organización de la información y ampliar el alcance de los servicios ofrecidos por las empresas del sector.</a:t>
            </a:r>
            <a:endParaRPr lang="es-CO" sz="1600" dirty="0">
              <a:effectLst/>
              <a:latin typeface="Calibri" panose="020F0502020204030204" pitchFamily="34" charset="0"/>
              <a:ea typeface="Calibri" panose="020F0502020204030204" pitchFamily="34" charset="0"/>
            </a:endParaRPr>
          </a:p>
          <a:p>
            <a:pPr algn="just">
              <a:lnSpc>
                <a:spcPct val="107000"/>
              </a:lnSpc>
              <a:spcAft>
                <a:spcPts val="800"/>
              </a:spcAft>
            </a:pPr>
            <a:r>
              <a:rPr lang="es-CO" sz="1600" dirty="0">
                <a:effectLst/>
                <a:latin typeface="Arial" panose="020B0604020202020204" pitchFamily="34" charset="0"/>
                <a:ea typeface="Arial" panose="020B0604020202020204" pitchFamily="34" charset="0"/>
              </a:rPr>
              <a:t> </a:t>
            </a:r>
            <a:endParaRPr lang="es-CO" sz="1600" dirty="0">
              <a:effectLst/>
              <a:latin typeface="Calibri" panose="020F0502020204030204" pitchFamily="34" charset="0"/>
              <a:ea typeface="Calibri" panose="020F0502020204030204" pitchFamily="34" charset="0"/>
            </a:endParaRPr>
          </a:p>
          <a:p>
            <a:pPr algn="just">
              <a:lnSpc>
                <a:spcPct val="107000"/>
              </a:lnSpc>
              <a:spcAft>
                <a:spcPts val="800"/>
              </a:spcAft>
            </a:pPr>
            <a:r>
              <a:rPr lang="es-CO" sz="1600" dirty="0">
                <a:effectLst/>
                <a:latin typeface="Arial" panose="020B0604020202020204" pitchFamily="34" charset="0"/>
                <a:ea typeface="Arial" panose="020B0604020202020204" pitchFamily="34" charset="0"/>
              </a:rPr>
              <a:t>Una plataforma web inmobiliaria constituye una solución tecnológica diseñada para centralizar la información relacionada con inmuebles disponibles para venta, arriendo o administración, facilitando el acceso de los usuarios a datos actualizados, imágenes, características de las propiedades y mecanismos de contacto directo. Este tipo de herramientas responde a la necesidad de modernizar los procesos tradicionales, que durante mucho tiempo se basaron en anuncios físicos, llamadas telefónicas, visitas presenciales y promoción informal por medio de terceros.</a:t>
            </a:r>
            <a:endParaRPr lang="es-CO" sz="1600" dirty="0">
              <a:effectLst/>
              <a:latin typeface="Calibri" panose="020F0502020204030204" pitchFamily="34" charset="0"/>
              <a:ea typeface="Calibri" panose="020F0502020204030204" pitchFamily="34" charset="0"/>
            </a:endParaRPr>
          </a:p>
          <a:p>
            <a:pPr algn="just">
              <a:lnSpc>
                <a:spcPct val="107000"/>
              </a:lnSpc>
              <a:spcAft>
                <a:spcPts val="800"/>
              </a:spcAft>
            </a:pPr>
            <a:r>
              <a:rPr lang="es-CO" sz="1600" dirty="0">
                <a:effectLst/>
                <a:latin typeface="Arial" panose="020B0604020202020204" pitchFamily="34" charset="0"/>
                <a:ea typeface="Arial" panose="020B0604020202020204" pitchFamily="34" charset="0"/>
              </a:rPr>
              <a:t> </a:t>
            </a:r>
            <a:endParaRPr lang="es-CO" sz="1600" dirty="0">
              <a:effectLst/>
              <a:latin typeface="Calibri" panose="020F0502020204030204" pitchFamily="34" charset="0"/>
              <a:ea typeface="Calibri" panose="020F0502020204030204" pitchFamily="34" charset="0"/>
            </a:endParaRPr>
          </a:p>
          <a:p>
            <a:pPr algn="just">
              <a:lnSpc>
                <a:spcPct val="107000"/>
              </a:lnSpc>
              <a:spcAft>
                <a:spcPts val="800"/>
              </a:spcAft>
            </a:pPr>
            <a:r>
              <a:rPr lang="es-CO" sz="1600" dirty="0">
                <a:effectLst/>
                <a:latin typeface="Arial" panose="020B0604020202020204" pitchFamily="34" charset="0"/>
                <a:ea typeface="Arial" panose="020B0604020202020204" pitchFamily="34" charset="0"/>
              </a:rPr>
              <a:t>Desde el punto de vista académico y técnico, el desarrollo de este tipo de sistema implica la integración de diversas disciplinas, entre ellas la ingeniería de software, el diseño de interfaces, la administración de bases de datos, la programación web y la usabilidad. Por esta razón, el marco teórico del proyecto no solo debe describir conceptos generales, sino también profundizar en los antecedentes, fundamentos teóricos y conceptos clave que sustentan la solución propuesta.</a:t>
            </a:r>
            <a:endParaRPr lang="es-CO" sz="1600" dirty="0">
              <a:effectLst/>
              <a:latin typeface="Calibri" panose="020F0502020204030204" pitchFamily="34" charset="0"/>
              <a:ea typeface="Calibri" panose="020F0502020204030204" pitchFamily="34" charset="0"/>
            </a:endParaRPr>
          </a:p>
          <a:p>
            <a:endParaRPr lang="es-C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0"/>
        <p:cNvGrpSpPr/>
        <p:nvPr/>
      </p:nvGrpSpPr>
      <p:grpSpPr>
        <a:xfrm>
          <a:off x="0" y="0"/>
          <a:ext cx="0" cy="0"/>
          <a:chOff x="0" y="0"/>
          <a:chExt cx="0" cy="0"/>
        </a:xfrm>
      </p:grpSpPr>
      <p:sp>
        <p:nvSpPr>
          <p:cNvPr id="161" name="Google Shape;161;p7"/>
          <p:cNvSpPr txBox="1"/>
          <p:nvPr/>
        </p:nvSpPr>
        <p:spPr>
          <a:xfrm>
            <a:off x="456236" y="416690"/>
            <a:ext cx="9815809" cy="5278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3600"/>
              <a:buFont typeface="Work Sans"/>
              <a:buNone/>
            </a:pPr>
            <a:r>
              <a:rPr lang="es-CO" sz="3600" b="1" i="0" u="none" strike="noStrike" cap="none">
                <a:solidFill>
                  <a:srgbClr val="FFFFFF"/>
                </a:solidFill>
                <a:latin typeface="Work Sans"/>
                <a:ea typeface="Work Sans"/>
                <a:cs typeface="Work Sans"/>
                <a:sym typeface="Work Sans"/>
              </a:rPr>
              <a:t>Plan de Trabajo</a:t>
            </a:r>
            <a:endParaRPr sz="1400" b="0" i="0" u="none" strike="noStrike" cap="none">
              <a:solidFill>
                <a:srgbClr val="000000"/>
              </a:solidFill>
              <a:latin typeface="Arial"/>
              <a:ea typeface="Arial"/>
              <a:cs typeface="Arial"/>
              <a:sym typeface="Arial"/>
            </a:endParaRPr>
          </a:p>
        </p:txBody>
      </p:sp>
      <p:pic>
        <p:nvPicPr>
          <p:cNvPr id="162" name="Google Shape;162;p7"/>
          <p:cNvPicPr preferRelativeResize="0"/>
          <p:nvPr/>
        </p:nvPicPr>
        <p:blipFill rotWithShape="1">
          <a:blip r:embed="rId4">
            <a:alphaModFix/>
          </a:blip>
          <a:srcRect/>
          <a:stretch/>
        </p:blipFill>
        <p:spPr>
          <a:xfrm>
            <a:off x="769495" y="2656816"/>
            <a:ext cx="11422505" cy="19989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6"/>
        <p:cNvGrpSpPr/>
        <p:nvPr/>
      </p:nvGrpSpPr>
      <p:grpSpPr>
        <a:xfrm>
          <a:off x="0" y="0"/>
          <a:ext cx="0" cy="0"/>
          <a:chOff x="0" y="0"/>
          <a:chExt cx="0" cy="0"/>
        </a:xfrm>
      </p:grpSpPr>
      <p:sp>
        <p:nvSpPr>
          <p:cNvPr id="167" name="Google Shape;167;p8"/>
          <p:cNvSpPr txBox="1"/>
          <p:nvPr/>
        </p:nvSpPr>
        <p:spPr>
          <a:xfrm>
            <a:off x="456236" y="416690"/>
            <a:ext cx="9815809" cy="52787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FFFF"/>
              </a:buClr>
              <a:buSzPts val="3600"/>
              <a:buFont typeface="Work Sans"/>
              <a:buNone/>
            </a:pPr>
            <a:r>
              <a:rPr lang="es-CO" sz="3600" b="1" i="0" u="none" strike="noStrike" cap="none">
                <a:solidFill>
                  <a:srgbClr val="FFFFFF"/>
                </a:solidFill>
                <a:latin typeface="Work Sans"/>
                <a:ea typeface="Work Sans"/>
                <a:cs typeface="Work Sans"/>
                <a:sym typeface="Work Sans"/>
              </a:rPr>
              <a:t>Presupuesto y Plan de Financiamiento</a:t>
            </a:r>
            <a:endParaRPr sz="1400" b="0" i="0" u="none" strike="noStrike" cap="none">
              <a:solidFill>
                <a:srgbClr val="000000"/>
              </a:solidFill>
              <a:latin typeface="Arial"/>
              <a:ea typeface="Arial"/>
              <a:cs typeface="Arial"/>
              <a:sym typeface="Arial"/>
            </a:endParaRPr>
          </a:p>
        </p:txBody>
      </p:sp>
      <p:pic>
        <p:nvPicPr>
          <p:cNvPr id="3" name="Imagen 2">
            <a:extLst>
              <a:ext uri="{FF2B5EF4-FFF2-40B4-BE49-F238E27FC236}">
                <a16:creationId xmlns:a16="http://schemas.microsoft.com/office/drawing/2014/main" id="{5505E5EB-D08E-4C3A-9529-06D107F59C24}"/>
              </a:ext>
            </a:extLst>
          </p:cNvPr>
          <p:cNvPicPr>
            <a:picLocks noChangeAspect="1"/>
          </p:cNvPicPr>
          <p:nvPr/>
        </p:nvPicPr>
        <p:blipFill>
          <a:blip r:embed="rId4"/>
          <a:stretch>
            <a:fillRect/>
          </a:stretch>
        </p:blipFill>
        <p:spPr>
          <a:xfrm>
            <a:off x="1333172" y="2320414"/>
            <a:ext cx="9525655" cy="3494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3"/>
        <p:cNvGrpSpPr/>
        <p:nvPr/>
      </p:nvGrpSpPr>
      <p:grpSpPr>
        <a:xfrm>
          <a:off x="0" y="0"/>
          <a:ext cx="0" cy="0"/>
          <a:chOff x="0" y="0"/>
          <a:chExt cx="0" cy="0"/>
        </a:xfrm>
      </p:grpSpPr>
      <p:sp>
        <p:nvSpPr>
          <p:cNvPr id="174" name="Google Shape;174;p9"/>
          <p:cNvSpPr txBox="1"/>
          <p:nvPr/>
        </p:nvSpPr>
        <p:spPr>
          <a:xfrm>
            <a:off x="1078029" y="322107"/>
            <a:ext cx="9452009"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D4D4C"/>
              </a:buClr>
              <a:buSzPts val="6000"/>
              <a:buFont typeface="Work Sans"/>
              <a:buNone/>
            </a:pPr>
            <a:r>
              <a:rPr lang="es-CO" sz="6000" b="1" i="0" u="none" strike="noStrike" cap="none">
                <a:solidFill>
                  <a:srgbClr val="4D4D4C"/>
                </a:solidFill>
                <a:latin typeface="Work Sans"/>
                <a:ea typeface="Work Sans"/>
                <a:cs typeface="Work Sans"/>
                <a:sym typeface="Work Sans"/>
              </a:rPr>
              <a:t>Impacto Social y Ambiental</a:t>
            </a:r>
            <a:endParaRPr sz="7200" b="1" i="0" u="none" strike="noStrike" cap="none">
              <a:solidFill>
                <a:srgbClr val="4D4D4C"/>
              </a:solidFill>
              <a:latin typeface="Work Sans"/>
              <a:ea typeface="Work Sans"/>
              <a:cs typeface="Work Sans"/>
              <a:sym typeface="Work Sans"/>
            </a:endParaRPr>
          </a:p>
        </p:txBody>
      </p:sp>
      <p:cxnSp>
        <p:nvCxnSpPr>
          <p:cNvPr id="175" name="Google Shape;175;p9"/>
          <p:cNvCxnSpPr/>
          <p:nvPr/>
        </p:nvCxnSpPr>
        <p:spPr>
          <a:xfrm>
            <a:off x="4510215" y="1312634"/>
            <a:ext cx="2247544" cy="0"/>
          </a:xfrm>
          <a:prstGeom prst="straightConnector1">
            <a:avLst/>
          </a:prstGeom>
          <a:noFill/>
          <a:ln w="12700" cap="flat" cmpd="sng">
            <a:solidFill>
              <a:srgbClr val="38AA00"/>
            </a:solidFill>
            <a:prstDash val="solid"/>
            <a:miter lim="800000"/>
            <a:headEnd type="none" w="sm" len="sm"/>
            <a:tailEnd type="none" w="sm" len="sm"/>
          </a:ln>
        </p:spPr>
      </p:cxnSp>
      <p:sp>
        <p:nvSpPr>
          <p:cNvPr id="176" name="Google Shape;176;p9"/>
          <p:cNvSpPr txBox="1"/>
          <p:nvPr/>
        </p:nvSpPr>
        <p:spPr>
          <a:xfrm>
            <a:off x="1227117" y="2303162"/>
            <a:ext cx="9153831" cy="4739719"/>
          </a:xfrm>
          <a:prstGeom prst="rect">
            <a:avLst/>
          </a:prstGeom>
          <a:noFill/>
          <a:ln>
            <a:noFill/>
          </a:ln>
        </p:spPr>
        <p:txBody>
          <a:bodyPr spcFirstLastPara="1" wrap="square" lIns="91425" tIns="45700" rIns="91425" bIns="45700" anchor="t" anchorCtr="0">
            <a:spAutoFit/>
          </a:bodyPr>
          <a:lstStyle/>
          <a:p>
            <a:r>
              <a:rPr lang="es-CO" sz="1800" b="1" i="0" u="none" strike="noStrike" cap="none" dirty="0">
                <a:solidFill>
                  <a:srgbClr val="000000"/>
                </a:solidFill>
                <a:latin typeface="Arial"/>
                <a:ea typeface="Arial"/>
                <a:cs typeface="Arial"/>
                <a:sym typeface="Arial"/>
              </a:rPr>
              <a:t>Impacto social:</a:t>
            </a:r>
            <a:r>
              <a:rPr lang="es-CO" sz="1800" b="0" i="0" u="none" strike="noStrike" cap="none" dirty="0">
                <a:solidFill>
                  <a:srgbClr val="000000"/>
                </a:solidFill>
                <a:latin typeface="Arial"/>
                <a:ea typeface="Arial"/>
                <a:cs typeface="Arial"/>
                <a:sym typeface="Arial"/>
              </a:rPr>
              <a:t> </a:t>
            </a:r>
            <a:r>
              <a:rPr lang="es-CO" sz="1800" dirty="0">
                <a:effectLst/>
                <a:latin typeface="Arial" panose="020B0604020202020204" pitchFamily="34" charset="0"/>
                <a:ea typeface="Times New Roman" panose="02020603050405020304" pitchFamily="18" charset="0"/>
              </a:rPr>
              <a:t>La implementación del sistema contribuye a la modernización del sector inmobiliario, especialmente para agentes independientes y pequeñas empresas que no cuentan con herramientas tecnológicas propias. La plataforma mejora la organización de la información, facilita la comunicación con los clientes y aumenta la visibilidad de los inmuebles disponibles.</a:t>
            </a:r>
            <a:endParaRPr lang="es-CO" sz="1800" dirty="0">
              <a:effectLst/>
              <a:latin typeface="Times New Roman" panose="02020603050405020304" pitchFamily="18" charset="0"/>
              <a:ea typeface="Times New Roman" panose="02020603050405020304" pitchFamily="18" charset="0"/>
            </a:endParaRPr>
          </a:p>
          <a:p>
            <a:r>
              <a:rPr lang="es-CO" sz="1800" dirty="0">
                <a:effectLst/>
                <a:latin typeface="Arial" panose="020B0604020202020204" pitchFamily="34" charset="0"/>
                <a:ea typeface="Times New Roman" panose="02020603050405020304" pitchFamily="18" charset="0"/>
              </a:rPr>
              <a:t>Asimismo, permite a los usuarios acceder a la información de manera rápida y eficiente, mejorando su experiencia en la búsqueda de propiedades. En el contexto educativo, el proyecto fortalece las competencias digitales de los aprendices, fomentando el uso de tecnologías en la solución de problemas reales.</a:t>
            </a:r>
            <a:endParaRPr lang="es-CO" sz="1800" dirty="0">
              <a:effectLst/>
              <a:latin typeface="Times New Roman" panose="02020603050405020304" pitchFamily="18" charset="0"/>
              <a:ea typeface="Times New Roman" panose="02020603050405020304" pitchFamily="18" charset="0"/>
            </a:endParaRPr>
          </a:p>
          <a:p>
            <a:r>
              <a:rPr lang="es-CO" sz="1800" b="1" i="0" u="none" strike="noStrike" cap="none" dirty="0">
                <a:solidFill>
                  <a:srgbClr val="000000"/>
                </a:solidFill>
                <a:latin typeface="Arial"/>
                <a:ea typeface="Arial"/>
                <a:cs typeface="Arial"/>
                <a:sym typeface="Arial"/>
              </a:rPr>
              <a:t>Impacto ambiental:</a:t>
            </a:r>
            <a:r>
              <a:rPr lang="es-CO" sz="1800" b="0" i="0" u="none" strike="noStrike" cap="none" dirty="0">
                <a:solidFill>
                  <a:srgbClr val="000000"/>
                </a:solidFill>
                <a:latin typeface="Arial"/>
                <a:ea typeface="Arial"/>
                <a:cs typeface="Arial"/>
                <a:sym typeface="Arial"/>
              </a:rPr>
              <a:t> </a:t>
            </a:r>
            <a:r>
              <a:rPr lang="es-CO" sz="1800" dirty="0">
                <a:effectLst/>
                <a:latin typeface="Arial" panose="020B0604020202020204" pitchFamily="34" charset="0"/>
                <a:ea typeface="Times New Roman" panose="02020603050405020304" pitchFamily="18" charset="0"/>
              </a:rPr>
              <a:t>El proyecto promueve la reducción del uso de papel al digitalizar procesos como el registro de propiedades y la gestión de solicitudes. Esto contribuye a disminuir el impacto ambiental asociado a la impresión de documentos físicos.</a:t>
            </a:r>
            <a:endParaRPr lang="es-CO" sz="1800" dirty="0">
              <a:effectLst/>
              <a:latin typeface="Times New Roman" panose="02020603050405020304" pitchFamily="18" charset="0"/>
              <a:ea typeface="Times New Roman" panose="02020603050405020304" pitchFamily="18" charset="0"/>
            </a:endParaRPr>
          </a:p>
          <a:p>
            <a:r>
              <a:rPr lang="es-CO" sz="1800" dirty="0">
                <a:effectLst/>
                <a:latin typeface="Arial" panose="020B0604020202020204" pitchFamily="34" charset="0"/>
                <a:ea typeface="Times New Roman" panose="02020603050405020304" pitchFamily="18" charset="0"/>
              </a:rPr>
              <a:t>Además, al trabajar en entornos digitales y utilizar herramientas de software libre, se optimiza el uso de recursos tecnológicos. Se recomienda el uso responsable de equipos electrónicos y una adecuada gestión de residuos tecnológicos, fomentando prácticas sostenibles como el reciclaje de dispositivos.</a:t>
            </a:r>
            <a:endParaRPr lang="es-CO" sz="1800" dirty="0">
              <a:effectLst/>
              <a:latin typeface="Times New Roman" panose="02020603050405020304" pitchFamily="18" charset="0"/>
              <a:ea typeface="Times New Roman" panose="02020603050405020304" pitchFamily="18" charset="0"/>
            </a:endParaRPr>
          </a:p>
          <a:p>
            <a:pPr marL="0" marR="0" lvl="0" indent="0" algn="l"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0"/>
        <p:cNvGrpSpPr/>
        <p:nvPr/>
      </p:nvGrpSpPr>
      <p:grpSpPr>
        <a:xfrm>
          <a:off x="0" y="0"/>
          <a:ext cx="0" cy="0"/>
          <a:chOff x="0" y="0"/>
          <a:chExt cx="0" cy="0"/>
        </a:xfrm>
      </p:grpSpPr>
      <p:sp>
        <p:nvSpPr>
          <p:cNvPr id="181" name="Google Shape;181;p10"/>
          <p:cNvSpPr txBox="1"/>
          <p:nvPr/>
        </p:nvSpPr>
        <p:spPr>
          <a:xfrm>
            <a:off x="574362" y="631834"/>
            <a:ext cx="4122766" cy="67659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38AA00"/>
              </a:buClr>
              <a:buSzPts val="3600"/>
              <a:buFont typeface="Work Sans"/>
              <a:buNone/>
            </a:pPr>
            <a:r>
              <a:rPr lang="es-CO" sz="3600" b="1" i="0" u="none" strike="noStrike" cap="none">
                <a:solidFill>
                  <a:srgbClr val="38AA00"/>
                </a:solidFill>
                <a:latin typeface="Work Sans"/>
                <a:ea typeface="Work Sans"/>
                <a:cs typeface="Work Sans"/>
                <a:sym typeface="Work Sans"/>
              </a:rPr>
              <a:t>Entregables</a:t>
            </a:r>
            <a:endParaRPr sz="1400" b="0" i="0" u="none" strike="noStrike" cap="none">
              <a:solidFill>
                <a:srgbClr val="000000"/>
              </a:solidFill>
              <a:latin typeface="Arial"/>
              <a:ea typeface="Arial"/>
              <a:cs typeface="Arial"/>
              <a:sym typeface="Arial"/>
            </a:endParaRPr>
          </a:p>
        </p:txBody>
      </p:sp>
      <p:cxnSp>
        <p:nvCxnSpPr>
          <p:cNvPr id="182" name="Google Shape;182;p10"/>
          <p:cNvCxnSpPr/>
          <p:nvPr/>
        </p:nvCxnSpPr>
        <p:spPr>
          <a:xfrm>
            <a:off x="656954" y="1308432"/>
            <a:ext cx="1425934" cy="0"/>
          </a:xfrm>
          <a:prstGeom prst="straightConnector1">
            <a:avLst/>
          </a:prstGeom>
          <a:noFill/>
          <a:ln w="12700" cap="flat" cmpd="sng">
            <a:solidFill>
              <a:srgbClr val="4D4D4C"/>
            </a:solidFill>
            <a:prstDash val="solid"/>
            <a:miter lim="800000"/>
            <a:headEnd type="none" w="sm" len="sm"/>
            <a:tailEnd type="none" w="sm" len="sm"/>
          </a:ln>
        </p:spPr>
      </p:cxnSp>
      <p:sp>
        <p:nvSpPr>
          <p:cNvPr id="183" name="Google Shape;183;p10"/>
          <p:cNvSpPr txBox="1"/>
          <p:nvPr/>
        </p:nvSpPr>
        <p:spPr>
          <a:xfrm>
            <a:off x="574362" y="1446421"/>
            <a:ext cx="5291459" cy="2564764"/>
          </a:xfrm>
          <a:prstGeom prst="rect">
            <a:avLst/>
          </a:prstGeom>
          <a:noFill/>
          <a:ln>
            <a:noFill/>
          </a:ln>
        </p:spPr>
        <p:txBody>
          <a:bodyPr spcFirstLastPara="1" wrap="square" lIns="91425" tIns="45700" rIns="91425" bIns="45700" anchor="t" anchorCtr="0">
            <a:spAutoFit/>
          </a:bodyPr>
          <a:lstStyle/>
          <a:p>
            <a:pPr marL="0" marR="0" lvl="0" indent="-101600" algn="just" rtl="0">
              <a:lnSpc>
                <a:spcPct val="100000"/>
              </a:lnSpc>
              <a:spcBef>
                <a:spcPts val="800"/>
              </a:spcBef>
              <a:spcAft>
                <a:spcPts val="0"/>
              </a:spcAft>
              <a:buClr>
                <a:srgbClr val="000000"/>
              </a:buClr>
              <a:buSzPts val="1600"/>
              <a:buFont typeface="Arial"/>
              <a:buChar char="•"/>
            </a:pPr>
            <a:r>
              <a:rPr lang="es-CO" sz="2000" dirty="0">
                <a:latin typeface="+mn-lt"/>
              </a:rPr>
              <a:t>Plataforma web funcional</a:t>
            </a:r>
          </a:p>
          <a:p>
            <a:pPr marL="0" marR="0" lvl="0" indent="-101600" algn="just" rtl="0">
              <a:lnSpc>
                <a:spcPct val="100000"/>
              </a:lnSpc>
              <a:spcBef>
                <a:spcPts val="0"/>
              </a:spcBef>
              <a:spcAft>
                <a:spcPts val="0"/>
              </a:spcAft>
              <a:buClr>
                <a:srgbClr val="000000"/>
              </a:buClr>
              <a:buSzPts val="1600"/>
              <a:buFont typeface="Arial"/>
              <a:buChar char="•"/>
            </a:pPr>
            <a:r>
              <a:rPr lang="es-CO" sz="2000" dirty="0">
                <a:latin typeface="+mn-lt"/>
              </a:rPr>
              <a:t>Documento del proyecto</a:t>
            </a:r>
          </a:p>
          <a:p>
            <a:pPr marL="0" marR="0" lvl="0" indent="-101600" algn="just" rtl="0">
              <a:lnSpc>
                <a:spcPct val="100000"/>
              </a:lnSpc>
              <a:spcBef>
                <a:spcPts val="0"/>
              </a:spcBef>
              <a:spcAft>
                <a:spcPts val="0"/>
              </a:spcAft>
              <a:buClr>
                <a:srgbClr val="000000"/>
              </a:buClr>
              <a:buSzPts val="1600"/>
              <a:buFont typeface="Arial"/>
              <a:buChar char="•"/>
            </a:pPr>
            <a:r>
              <a:rPr lang="es-CO" sz="2000" dirty="0">
                <a:latin typeface="+mn-lt"/>
                <a:ea typeface="Work Sans Light"/>
                <a:cs typeface="Work Sans Light"/>
                <a:sym typeface="Work Sans Light"/>
              </a:rPr>
              <a:t>P</a:t>
            </a:r>
            <a:r>
              <a:rPr lang="es-CO" sz="2000" i="0" u="none" strike="noStrike" cap="none" dirty="0">
                <a:solidFill>
                  <a:srgbClr val="000000"/>
                </a:solidFill>
                <a:latin typeface="+mn-lt"/>
                <a:ea typeface="Work Sans Light"/>
                <a:cs typeface="Work Sans Light"/>
                <a:sym typeface="Work Sans Light"/>
              </a:rPr>
              <a:t>oster</a:t>
            </a:r>
            <a:endParaRPr lang="es-CO" sz="2000" dirty="0">
              <a:latin typeface="+mn-lt"/>
            </a:endParaRPr>
          </a:p>
          <a:p>
            <a:pPr marL="0" marR="0" lvl="0" indent="-101600" algn="just" rtl="0">
              <a:lnSpc>
                <a:spcPct val="100000"/>
              </a:lnSpc>
              <a:spcBef>
                <a:spcPts val="0"/>
              </a:spcBef>
              <a:spcAft>
                <a:spcPts val="0"/>
              </a:spcAft>
              <a:buClr>
                <a:srgbClr val="000000"/>
              </a:buClr>
              <a:buSzPts val="1600"/>
              <a:buFont typeface="Arial"/>
              <a:buChar char="•"/>
            </a:pPr>
            <a:r>
              <a:rPr lang="es-CO" sz="2000" dirty="0">
                <a:latin typeface="+mn-lt"/>
              </a:rPr>
              <a:t>Presentación</a:t>
            </a:r>
          </a:p>
          <a:p>
            <a:pPr marL="0" marR="0" lvl="0" indent="-101600" algn="just" rtl="0">
              <a:lnSpc>
                <a:spcPct val="100000"/>
              </a:lnSpc>
              <a:spcBef>
                <a:spcPts val="0"/>
              </a:spcBef>
              <a:spcAft>
                <a:spcPts val="0"/>
              </a:spcAft>
              <a:buClr>
                <a:srgbClr val="000000"/>
              </a:buClr>
              <a:buSzPts val="1600"/>
              <a:buFont typeface="Arial"/>
              <a:buChar char="•"/>
            </a:pPr>
            <a:r>
              <a:rPr lang="es-CO" sz="2000" dirty="0">
                <a:latin typeface="+mn-lt"/>
              </a:rPr>
              <a:t>Base de datos</a:t>
            </a:r>
          </a:p>
          <a:p>
            <a:pPr marL="0" marR="0" lvl="0" indent="-101600" algn="just" rtl="0">
              <a:lnSpc>
                <a:spcPct val="100000"/>
              </a:lnSpc>
              <a:spcBef>
                <a:spcPts val="0"/>
              </a:spcBef>
              <a:spcAft>
                <a:spcPts val="0"/>
              </a:spcAft>
              <a:buClr>
                <a:srgbClr val="000000"/>
              </a:buClr>
              <a:buSzPts val="1600"/>
              <a:buFont typeface="Arial"/>
              <a:buChar char="•"/>
            </a:pPr>
            <a:r>
              <a:rPr lang="es-CO" sz="2000" dirty="0">
                <a:latin typeface="+mn-lt"/>
              </a:rPr>
              <a:t>Código fuente</a:t>
            </a:r>
          </a:p>
          <a:p>
            <a:pPr indent="-101600" algn="just">
              <a:buSzPts val="1600"/>
              <a:buFont typeface="Arial"/>
              <a:buChar char="•"/>
            </a:pPr>
            <a:r>
              <a:rPr lang="es-CO" sz="2000" dirty="0">
                <a:latin typeface="+mn-lt"/>
              </a:rPr>
              <a:t>Manual de usuario</a:t>
            </a:r>
            <a:r>
              <a:rPr lang="es-CO" dirty="0"/>
              <a:t> </a:t>
            </a:r>
          </a:p>
          <a:p>
            <a:pPr marL="0" marR="0" lvl="0" indent="-101600" algn="just" rtl="0">
              <a:lnSpc>
                <a:spcPct val="100000"/>
              </a:lnSpc>
              <a:spcBef>
                <a:spcPts val="0"/>
              </a:spcBef>
              <a:spcAft>
                <a:spcPts val="0"/>
              </a:spcAft>
              <a:buClr>
                <a:srgbClr val="000000"/>
              </a:buClr>
              <a:buSzPts val="1600"/>
              <a:buFont typeface="Arial"/>
              <a:buChar char="•"/>
            </a:pPr>
            <a:endParaRPr lang="es-CO" sz="1400" b="0" i="0" u="none" strike="noStrike" cap="none" dirty="0">
              <a:solidFill>
                <a:srgbClr val="000000"/>
              </a:solidFill>
              <a:latin typeface="Arial"/>
              <a:ea typeface="Arial"/>
              <a:cs typeface="Arial"/>
              <a:sym typeface="Arial"/>
            </a:endParaRPr>
          </a:p>
        </p:txBody>
      </p:sp>
      <p:sp>
        <p:nvSpPr>
          <p:cNvPr id="184" name="Google Shape;184;p10"/>
          <p:cNvSpPr/>
          <p:nvPr/>
        </p:nvSpPr>
        <p:spPr>
          <a:xfrm>
            <a:off x="7834964" y="560397"/>
            <a:ext cx="3789094"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s-CO" sz="2400" b="1" i="0" u="none" strike="noStrike" cap="none">
                <a:solidFill>
                  <a:srgbClr val="FEFEFE"/>
                </a:solidFill>
                <a:latin typeface="Calibri"/>
                <a:ea typeface="Calibri"/>
                <a:cs typeface="Calibri"/>
                <a:sym typeface="Calibri"/>
              </a:rPr>
              <a:t>Imagen del tema, o foto de los aprendices.</a:t>
            </a:r>
            <a:endParaRPr sz="1400" b="0" i="0" u="none" strike="noStrike" cap="none">
              <a:solidFill>
                <a:srgbClr val="000000"/>
              </a:solidFill>
              <a:latin typeface="Arial"/>
              <a:ea typeface="Arial"/>
              <a:cs typeface="Arial"/>
              <a:sym typeface="Arial"/>
            </a:endParaRPr>
          </a:p>
        </p:txBody>
      </p:sp>
      <p:pic>
        <p:nvPicPr>
          <p:cNvPr id="7" name="Imagen 6">
            <a:extLst>
              <a:ext uri="{FF2B5EF4-FFF2-40B4-BE49-F238E27FC236}">
                <a16:creationId xmlns:a16="http://schemas.microsoft.com/office/drawing/2014/main" id="{179F05DD-69B0-4400-A57E-A9BE4CAFBC4C}"/>
              </a:ext>
            </a:extLst>
          </p:cNvPr>
          <p:cNvPicPr>
            <a:picLocks noChangeAspect="1"/>
          </p:cNvPicPr>
          <p:nvPr/>
        </p:nvPicPr>
        <p:blipFill>
          <a:blip r:embed="rId4"/>
          <a:stretch>
            <a:fillRect/>
          </a:stretch>
        </p:blipFill>
        <p:spPr>
          <a:xfrm>
            <a:off x="5740685" y="1699468"/>
            <a:ext cx="5551306" cy="248951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9"/>
        <p:cNvGrpSpPr/>
        <p:nvPr/>
      </p:nvGrpSpPr>
      <p:grpSpPr>
        <a:xfrm>
          <a:off x="0" y="0"/>
          <a:ext cx="0" cy="0"/>
          <a:chOff x="0" y="0"/>
          <a:chExt cx="0" cy="0"/>
        </a:xfrm>
      </p:grpSpPr>
      <p:sp>
        <p:nvSpPr>
          <p:cNvPr id="190" name="Google Shape;190;p11"/>
          <p:cNvSpPr txBox="1"/>
          <p:nvPr/>
        </p:nvSpPr>
        <p:spPr>
          <a:xfrm>
            <a:off x="1078029" y="322107"/>
            <a:ext cx="9452009"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4D4D4C"/>
              </a:buClr>
              <a:buSzPts val="6000"/>
              <a:buFont typeface="Work Sans"/>
              <a:buNone/>
            </a:pPr>
            <a:r>
              <a:rPr lang="es-CO" sz="6000" b="1" i="0" u="none" strike="noStrike" cap="none" dirty="0">
                <a:solidFill>
                  <a:srgbClr val="4D4D4C"/>
                </a:solidFill>
                <a:latin typeface="Work Sans"/>
                <a:ea typeface="Work Sans"/>
                <a:cs typeface="Work Sans"/>
                <a:sym typeface="Work Sans"/>
              </a:rPr>
              <a:t>Anexos, planos imágenes</a:t>
            </a:r>
            <a:endParaRPr sz="7200" b="1" i="0" u="none" strike="noStrike" cap="none" dirty="0">
              <a:solidFill>
                <a:srgbClr val="4D4D4C"/>
              </a:solidFill>
              <a:latin typeface="Work Sans"/>
              <a:ea typeface="Work Sans"/>
              <a:cs typeface="Work Sans"/>
              <a:sym typeface="Work Sans"/>
            </a:endParaRPr>
          </a:p>
        </p:txBody>
      </p:sp>
      <p:cxnSp>
        <p:nvCxnSpPr>
          <p:cNvPr id="191" name="Google Shape;191;p11"/>
          <p:cNvCxnSpPr/>
          <p:nvPr/>
        </p:nvCxnSpPr>
        <p:spPr>
          <a:xfrm>
            <a:off x="4510215" y="1312634"/>
            <a:ext cx="2247544" cy="0"/>
          </a:xfrm>
          <a:prstGeom prst="straightConnector1">
            <a:avLst/>
          </a:prstGeom>
          <a:noFill/>
          <a:ln w="12700" cap="flat" cmpd="sng">
            <a:solidFill>
              <a:srgbClr val="38AA00"/>
            </a:solidFill>
            <a:prstDash val="solid"/>
            <a:miter lim="800000"/>
            <a:headEnd type="none" w="sm" len="sm"/>
            <a:tailEnd type="none" w="sm" len="sm"/>
          </a:ln>
        </p:spPr>
      </p:cxnSp>
      <p:sp>
        <p:nvSpPr>
          <p:cNvPr id="192" name="Google Shape;192;p11"/>
          <p:cNvSpPr txBox="1"/>
          <p:nvPr/>
        </p:nvSpPr>
        <p:spPr>
          <a:xfrm>
            <a:off x="2607380" y="1384297"/>
            <a:ext cx="6977239" cy="30773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Work Sans Light"/>
              <a:buNone/>
            </a:pPr>
            <a:endParaRPr sz="1400" b="0" i="0" u="none" strike="noStrike" cap="none">
              <a:solidFill>
                <a:srgbClr val="000000"/>
              </a:solidFill>
              <a:latin typeface="Arial"/>
              <a:ea typeface="Arial"/>
              <a:cs typeface="Arial"/>
              <a:sym typeface="Arial"/>
            </a:endParaRPr>
          </a:p>
        </p:txBody>
      </p:sp>
      <p:pic>
        <p:nvPicPr>
          <p:cNvPr id="3" name="Imagen 2">
            <a:extLst>
              <a:ext uri="{FF2B5EF4-FFF2-40B4-BE49-F238E27FC236}">
                <a16:creationId xmlns:a16="http://schemas.microsoft.com/office/drawing/2014/main" id="{344FD6B8-00B8-4004-A991-937907C4F386}"/>
              </a:ext>
            </a:extLst>
          </p:cNvPr>
          <p:cNvPicPr>
            <a:picLocks noChangeAspect="1"/>
          </p:cNvPicPr>
          <p:nvPr/>
        </p:nvPicPr>
        <p:blipFill>
          <a:blip r:embed="rId4"/>
          <a:stretch>
            <a:fillRect/>
          </a:stretch>
        </p:blipFill>
        <p:spPr>
          <a:xfrm>
            <a:off x="341059" y="4505405"/>
            <a:ext cx="6322915" cy="2323044"/>
          </a:xfrm>
          <a:prstGeom prst="rect">
            <a:avLst/>
          </a:prstGeom>
        </p:spPr>
      </p:pic>
      <p:pic>
        <p:nvPicPr>
          <p:cNvPr id="5" name="Imagen 4">
            <a:extLst>
              <a:ext uri="{FF2B5EF4-FFF2-40B4-BE49-F238E27FC236}">
                <a16:creationId xmlns:a16="http://schemas.microsoft.com/office/drawing/2014/main" id="{FDB40995-87AD-4485-B20F-DDD825CD58B2}"/>
              </a:ext>
            </a:extLst>
          </p:cNvPr>
          <p:cNvPicPr>
            <a:picLocks noChangeAspect="1"/>
          </p:cNvPicPr>
          <p:nvPr/>
        </p:nvPicPr>
        <p:blipFill>
          <a:blip r:embed="rId5"/>
          <a:stretch>
            <a:fillRect/>
          </a:stretch>
        </p:blipFill>
        <p:spPr>
          <a:xfrm>
            <a:off x="8396220" y="2512691"/>
            <a:ext cx="3254022" cy="4168501"/>
          </a:xfrm>
          <a:prstGeom prst="rect">
            <a:avLst/>
          </a:prstGeom>
        </p:spPr>
      </p:pic>
      <p:pic>
        <p:nvPicPr>
          <p:cNvPr id="7" name="Imagen 6">
            <a:extLst>
              <a:ext uri="{FF2B5EF4-FFF2-40B4-BE49-F238E27FC236}">
                <a16:creationId xmlns:a16="http://schemas.microsoft.com/office/drawing/2014/main" id="{80232F70-8CC1-4CF8-ABCF-2F154451249A}"/>
              </a:ext>
            </a:extLst>
          </p:cNvPr>
          <p:cNvPicPr>
            <a:picLocks noChangeAspect="1"/>
          </p:cNvPicPr>
          <p:nvPr/>
        </p:nvPicPr>
        <p:blipFill>
          <a:blip r:embed="rId6"/>
          <a:stretch>
            <a:fillRect/>
          </a:stretch>
        </p:blipFill>
        <p:spPr>
          <a:xfrm>
            <a:off x="541758" y="2951084"/>
            <a:ext cx="7710654" cy="9852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9"/>
        <p:cNvGrpSpPr/>
        <p:nvPr/>
      </p:nvGrpSpPr>
      <p:grpSpPr>
        <a:xfrm>
          <a:off x="0" y="0"/>
          <a:ext cx="0" cy="0"/>
          <a:chOff x="0" y="0"/>
          <a:chExt cx="0" cy="0"/>
        </a:xfrm>
      </p:grpSpPr>
      <p:sp>
        <p:nvSpPr>
          <p:cNvPr id="200" name="Google Shape;200;p12"/>
          <p:cNvSpPr/>
          <p:nvPr/>
        </p:nvSpPr>
        <p:spPr>
          <a:xfrm>
            <a:off x="3423628" y="3954050"/>
            <a:ext cx="5344743" cy="646331"/>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000000"/>
              </a:buClr>
              <a:buSzPts val="2000"/>
              <a:buFont typeface="Arial"/>
              <a:buNone/>
            </a:pPr>
            <a:r>
              <a:rPr lang="es-CO" sz="2000" b="1" i="0" u="none" strike="noStrike" cap="none">
                <a:solidFill>
                  <a:schemeClr val="lt1"/>
                </a:solidFill>
                <a:latin typeface="Work Sans"/>
                <a:ea typeface="Work Sans"/>
                <a:cs typeface="Work Sans"/>
                <a:sym typeface="Work Sans"/>
              </a:rPr>
              <a:t>Espacio disponible para que los jurados, realicen Preguntas, Dudas y Sugerencias </a:t>
            </a:r>
            <a:endParaRPr sz="2000" b="0" i="0" u="none" strike="noStrike" cap="none">
              <a:solidFill>
                <a:schemeClr val="lt1"/>
              </a:solidFill>
              <a:latin typeface="Work Sans Medium"/>
              <a:ea typeface="Work Sans Medium"/>
              <a:cs typeface="Work Sans Medium"/>
              <a:sym typeface="Work Sans Medium"/>
            </a:endParaRPr>
          </a:p>
        </p:txBody>
      </p:sp>
      <p:sp>
        <p:nvSpPr>
          <p:cNvPr id="201" name="Google Shape;201;p12"/>
          <p:cNvSpPr txBox="1"/>
          <p:nvPr/>
        </p:nvSpPr>
        <p:spPr>
          <a:xfrm>
            <a:off x="2229640" y="1671035"/>
            <a:ext cx="6914360"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lt1"/>
              </a:buClr>
              <a:buSzPts val="6000"/>
              <a:buFont typeface="Work Sans"/>
              <a:buNone/>
            </a:pPr>
            <a:r>
              <a:rPr lang="es-CO" sz="6000" b="1" i="0" u="none" strike="noStrike" cap="none">
                <a:solidFill>
                  <a:schemeClr val="lt1"/>
                </a:solidFill>
                <a:latin typeface="Work Sans"/>
                <a:ea typeface="Work Sans"/>
                <a:cs typeface="Work Sans"/>
                <a:sym typeface="Work Sans"/>
              </a:rPr>
              <a:t>Preguntas, Dudas</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6000"/>
              <a:buFont typeface="Work Sans"/>
              <a:buNone/>
            </a:pPr>
            <a:r>
              <a:rPr lang="es-CO" sz="6000" b="1" i="0" u="none" strike="noStrike" cap="none">
                <a:solidFill>
                  <a:schemeClr val="lt1"/>
                </a:solidFill>
                <a:latin typeface="Work Sans"/>
                <a:ea typeface="Work Sans"/>
                <a:cs typeface="Work Sans"/>
                <a:sym typeface="Work Sans"/>
              </a:rPr>
              <a:t> y Sugerencias </a:t>
            </a:r>
            <a:endParaRPr sz="7200" b="1" i="0" u="none" strike="noStrike" cap="none">
              <a:solidFill>
                <a:schemeClr val="lt1"/>
              </a:solidFill>
              <a:latin typeface="Work Sans"/>
              <a:ea typeface="Work Sans"/>
              <a:cs typeface="Work Sans"/>
              <a:sym typeface="Work Sans"/>
            </a:endParaRPr>
          </a:p>
        </p:txBody>
      </p:sp>
      <p:cxnSp>
        <p:nvCxnSpPr>
          <p:cNvPr id="202" name="Google Shape;202;p12"/>
          <p:cNvCxnSpPr/>
          <p:nvPr/>
        </p:nvCxnSpPr>
        <p:spPr>
          <a:xfrm>
            <a:off x="4638461" y="3610027"/>
            <a:ext cx="2247544" cy="0"/>
          </a:xfrm>
          <a:prstGeom prst="straightConnector1">
            <a:avLst/>
          </a:prstGeom>
          <a:noFill/>
          <a:ln w="12700" cap="flat" cmpd="sng">
            <a:solidFill>
              <a:schemeClr val="lt1"/>
            </a:solidFill>
            <a:prstDash val="solid"/>
            <a:miter lim="800000"/>
            <a:headEnd type="none" w="sm" len="sm"/>
            <a:tailEnd type="none" w="sm" len="sm"/>
          </a:ln>
        </p:spPr>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1345</Words>
  <Application>Microsoft Office PowerPoint</Application>
  <PresentationFormat>Panorámica</PresentationFormat>
  <Paragraphs>51</Paragraphs>
  <Slides>13</Slides>
  <Notes>13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13</vt:i4>
      </vt:variant>
    </vt:vector>
  </HeadingPairs>
  <TitlesOfParts>
    <vt:vector size="21" baseType="lpstr">
      <vt:lpstr>Work Sans Light</vt:lpstr>
      <vt:lpstr>Calibri</vt:lpstr>
      <vt:lpstr>Arial</vt:lpstr>
      <vt:lpstr>Work Sans Medium</vt:lpstr>
      <vt:lpstr>Times New Roman</vt:lpstr>
      <vt:lpstr>Arial Black</vt:lpstr>
      <vt:lpstr>Work Sans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Simon Sepulveda</cp:lastModifiedBy>
  <cp:revision>4</cp:revision>
  <dcterms:created xsi:type="dcterms:W3CDTF">2020-10-01T23:51:28Z</dcterms:created>
  <dcterms:modified xsi:type="dcterms:W3CDTF">2026-07-11T22:33:45Z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